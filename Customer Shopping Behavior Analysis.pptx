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verpas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426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808565"/>
            <a:ext cx="7415927" cy="1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Customer Shopping Behavior Analysis</a:t>
            </a:r>
            <a:endParaRPr lang="en-US" sz="4550" dirty="0"/>
          </a:p>
        </p:txBody>
      </p:sp>
      <p:sp>
        <p:nvSpPr>
          <p:cNvPr id="4" name="Text 1"/>
          <p:cNvSpPr/>
          <p:nvPr/>
        </p:nvSpPr>
        <p:spPr>
          <a:xfrm>
            <a:off x="6350437" y="4630936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Uncovering insights from 3,900 purchases to drive strategic business decisions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771882"/>
            <a:ext cx="5809059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Dataset Overview</a:t>
            </a:r>
            <a:endParaRPr lang="en-US" sz="4550" dirty="0"/>
          </a:p>
        </p:txBody>
      </p:sp>
      <p:sp>
        <p:nvSpPr>
          <p:cNvPr id="4" name="Text 1"/>
          <p:cNvSpPr/>
          <p:nvPr/>
        </p:nvSpPr>
        <p:spPr>
          <a:xfrm>
            <a:off x="864037" y="1991558"/>
            <a:ext cx="35536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3,900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1188601" y="3114675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Total Purchases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864037" y="3625929"/>
            <a:ext cx="355365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Transactions analyzed across all categories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726305" y="1991558"/>
            <a:ext cx="35536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18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5050869" y="3114675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 Columns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726305" y="3625929"/>
            <a:ext cx="355365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Comprehensive customer and purchase attributes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4037" y="5033129"/>
            <a:ext cx="35536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50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1188601" y="6156246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Locations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864037" y="6667500"/>
            <a:ext cx="355365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Geographic diversity in customer base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726305" y="5033129"/>
            <a:ext cx="35536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25</a:t>
            </a:r>
            <a:endParaRPr lang="en-US" sz="6400" dirty="0"/>
          </a:p>
        </p:txBody>
      </p:sp>
      <p:sp>
        <p:nvSpPr>
          <p:cNvPr id="14" name="Text 11"/>
          <p:cNvSpPr/>
          <p:nvPr/>
        </p:nvSpPr>
        <p:spPr>
          <a:xfrm>
            <a:off x="5050869" y="6156246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Products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4726305" y="6667500"/>
            <a:ext cx="355365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Items tracked across 4 major categories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1321594"/>
            <a:ext cx="6963370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 Preparation Journey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968693" y="2541389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68693" y="2930485"/>
            <a:ext cx="6223040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5" name="Text 3"/>
          <p:cNvSpPr/>
          <p:nvPr/>
        </p:nvSpPr>
        <p:spPr>
          <a:xfrm>
            <a:off x="968693" y="3114794"/>
            <a:ext cx="370343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 Loading &amp; Exploration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68693" y="3626048"/>
            <a:ext cx="62230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Imported dataset using pandas, analyzed structure with df.info() and summary statistics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38549" y="2541389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38549" y="2930485"/>
            <a:ext cx="6223040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9" name="Text 7"/>
          <p:cNvSpPr/>
          <p:nvPr/>
        </p:nvSpPr>
        <p:spPr>
          <a:xfrm>
            <a:off x="7438549" y="3114794"/>
            <a:ext cx="369867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Cleaning &amp; Standardization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438549" y="3626048"/>
            <a:ext cx="62230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Handled 37 missing review ratings, standardized columns to snake_case format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8693" y="4848106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8693" y="5237202"/>
            <a:ext cx="6223040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3" name="Text 11"/>
          <p:cNvSpPr/>
          <p:nvPr/>
        </p:nvSpPr>
        <p:spPr>
          <a:xfrm>
            <a:off x="968693" y="5421511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Feature Engineering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68693" y="5932765"/>
            <a:ext cx="62230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Created age_group bins and purchase_frequency_days for deeper insights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438549" y="4848106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438549" y="5237202"/>
            <a:ext cx="6223040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7" name="Text 15"/>
          <p:cNvSpPr/>
          <p:nvPr/>
        </p:nvSpPr>
        <p:spPr>
          <a:xfrm>
            <a:off x="7438549" y="5421511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Database Integration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438549" y="5932765"/>
            <a:ext cx="62230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Connected to PostgreSQL for advanced SQL analysis capabilities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1224082"/>
            <a:ext cx="5809059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Revenue by Gender</a:t>
            </a:r>
            <a:endParaRPr lang="en-US" sz="4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93" y="2598063"/>
            <a:ext cx="7374850" cy="385238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53683" y="6480929"/>
            <a:ext cx="246817" cy="246817"/>
          </a:xfrm>
          <a:prstGeom prst="roundRect">
            <a:avLst>
              <a:gd name="adj" fmla="val 7410"/>
            </a:avLst>
          </a:prstGeom>
          <a:solidFill>
            <a:srgbClr val="79013A"/>
          </a:solidFill>
          <a:ln/>
        </p:spPr>
      </p:sp>
      <p:sp>
        <p:nvSpPr>
          <p:cNvPr id="5" name="Text 2"/>
          <p:cNvSpPr/>
          <p:nvPr/>
        </p:nvSpPr>
        <p:spPr>
          <a:xfrm>
            <a:off x="4061460" y="6480929"/>
            <a:ext cx="518398" cy="246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Male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732258" y="6480929"/>
            <a:ext cx="246817" cy="246817"/>
          </a:xfrm>
          <a:prstGeom prst="roundRect">
            <a:avLst>
              <a:gd name="adj" fmla="val 7410"/>
            </a:avLst>
          </a:prstGeom>
          <a:solidFill>
            <a:srgbClr val="FC3392"/>
          </a:solidFill>
          <a:ln/>
        </p:spPr>
      </p:sp>
      <p:sp>
        <p:nvSpPr>
          <p:cNvPr id="7" name="Text 4"/>
          <p:cNvSpPr/>
          <p:nvPr/>
        </p:nvSpPr>
        <p:spPr>
          <a:xfrm>
            <a:off x="5040035" y="6480929"/>
            <a:ext cx="791885" cy="246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Female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953381" y="2567226"/>
            <a:ext cx="4715828" cy="87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Male Customers Drive Revenue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953381" y="3685103"/>
            <a:ext cx="471582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Male customers generate </a:t>
            </a:r>
            <a:r>
              <a:rPr lang="en-US" sz="190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68%</a:t>
            </a: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of total revenue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953381" y="4697373"/>
            <a:ext cx="471582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Female segment shows opportunity for targeted growth campaigns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836771"/>
            <a:ext cx="5628799" cy="692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Smart Discount Users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2619613" y="3531394"/>
            <a:ext cx="2897148" cy="588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839</a:t>
            </a:r>
            <a:endParaRPr lang="en-US" sz="4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716" y="2059305"/>
            <a:ext cx="3533180" cy="3533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7644" y="5886807"/>
            <a:ext cx="3921204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High-Value Discount Shoppers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68693" y="6374368"/>
            <a:ext cx="6199227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Customers using discounts while spending above average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113163" y="3531394"/>
            <a:ext cx="2897148" cy="588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21.5%</a:t>
            </a:r>
            <a:endParaRPr lang="en-US" sz="4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266" y="2059305"/>
            <a:ext cx="3533180" cy="3533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76385" y="5886807"/>
            <a:ext cx="2771061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Segment Size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7462242" y="6374368"/>
            <a:ext cx="6199346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Represents strategic customer group for retention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968693" y="7015996"/>
            <a:ext cx="12692896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These customers prove discounts don't always mean lower margins—they're willing to spend more</a:t>
            </a:r>
            <a:endParaRPr lang="en-US" sz="18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14C9BC-3644-DD3C-15B0-80FB8E26FF7C}"/>
              </a:ext>
            </a:extLst>
          </p:cNvPr>
          <p:cNvSpPr txBox="1"/>
          <p:nvPr/>
        </p:nvSpPr>
        <p:spPr>
          <a:xfrm>
            <a:off x="9827969" y="3471833"/>
            <a:ext cx="1467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21.5%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A09050-4E3C-7978-CF44-2B9814A9E9D5}"/>
              </a:ext>
            </a:extLst>
          </p:cNvPr>
          <p:cNvSpPr txBox="1"/>
          <p:nvPr/>
        </p:nvSpPr>
        <p:spPr>
          <a:xfrm>
            <a:off x="3289439" y="3535383"/>
            <a:ext cx="15574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</a:rPr>
              <a:t>839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1611273"/>
            <a:ext cx="5809059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Top-Rated Products</a:t>
            </a:r>
            <a:endParaRPr lang="en-US" sz="4550" dirty="0"/>
          </a:p>
        </p:txBody>
      </p:sp>
      <p:sp>
        <p:nvSpPr>
          <p:cNvPr id="3" name="Shape 1"/>
          <p:cNvSpPr/>
          <p:nvPr/>
        </p:nvSpPr>
        <p:spPr>
          <a:xfrm>
            <a:off x="968693" y="2954417"/>
            <a:ext cx="3227546" cy="308610"/>
          </a:xfrm>
          <a:prstGeom prst="roundRect">
            <a:avLst>
              <a:gd name="adj" fmla="val 33600"/>
            </a:avLst>
          </a:prstGeom>
          <a:solidFill>
            <a:srgbClr val="7E023C"/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8693" y="2954417"/>
            <a:ext cx="3130629" cy="308610"/>
          </a:xfrm>
          <a:prstGeom prst="roundRect">
            <a:avLst>
              <a:gd name="adj" fmla="val 33600"/>
            </a:avLst>
          </a:prstGeom>
          <a:solidFill>
            <a:srgbClr val="F20374"/>
          </a:solidFill>
          <a:ln/>
        </p:spPr>
      </p:sp>
      <p:sp>
        <p:nvSpPr>
          <p:cNvPr id="5" name="Text 3"/>
          <p:cNvSpPr/>
          <p:nvPr/>
        </p:nvSpPr>
        <p:spPr>
          <a:xfrm>
            <a:off x="4381381" y="2954417"/>
            <a:ext cx="61245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97%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8693" y="3571518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Gloves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68693" y="4082772"/>
            <a:ext cx="402514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Highest average rating: 3.86/5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302448" y="2954417"/>
            <a:ext cx="3198019" cy="308610"/>
          </a:xfrm>
          <a:prstGeom prst="roundRect">
            <a:avLst>
              <a:gd name="adj" fmla="val 33600"/>
            </a:avLst>
          </a:prstGeom>
          <a:solidFill>
            <a:srgbClr val="7E023C"/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2448" y="2954417"/>
            <a:ext cx="3070027" cy="308610"/>
          </a:xfrm>
          <a:prstGeom prst="roundRect">
            <a:avLst>
              <a:gd name="adj" fmla="val 33600"/>
            </a:avLst>
          </a:prstGeom>
          <a:solidFill>
            <a:srgbClr val="F20374"/>
          </a:solidFill>
          <a:ln/>
        </p:spPr>
      </p:sp>
      <p:sp>
        <p:nvSpPr>
          <p:cNvPr id="10" name="Text 8"/>
          <p:cNvSpPr/>
          <p:nvPr/>
        </p:nvSpPr>
        <p:spPr>
          <a:xfrm>
            <a:off x="8685609" y="2954417"/>
            <a:ext cx="642104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96%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02448" y="3571518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Sandals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302448" y="4082772"/>
            <a:ext cx="402526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Strong performance: 3.84/5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36323" y="2954417"/>
            <a:ext cx="3198971" cy="308610"/>
          </a:xfrm>
          <a:prstGeom prst="roundRect">
            <a:avLst>
              <a:gd name="adj" fmla="val 33600"/>
            </a:avLst>
          </a:prstGeom>
          <a:solidFill>
            <a:srgbClr val="7E023C"/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36323" y="2954417"/>
            <a:ext cx="3038951" cy="308610"/>
          </a:xfrm>
          <a:prstGeom prst="roundRect">
            <a:avLst>
              <a:gd name="adj" fmla="val 33600"/>
            </a:avLst>
          </a:prstGeom>
          <a:solidFill>
            <a:srgbClr val="F20374"/>
          </a:solidFill>
          <a:ln/>
        </p:spPr>
      </p:sp>
      <p:sp>
        <p:nvSpPr>
          <p:cNvPr id="15" name="Text 13"/>
          <p:cNvSpPr/>
          <p:nvPr/>
        </p:nvSpPr>
        <p:spPr>
          <a:xfrm>
            <a:off x="13020437" y="2954417"/>
            <a:ext cx="64103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95%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36323" y="3571518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Boots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36323" y="4082772"/>
            <a:ext cx="402514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Customer favorite: 3.82/5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68693" y="5094923"/>
            <a:ext cx="3198971" cy="308610"/>
          </a:xfrm>
          <a:prstGeom prst="roundRect">
            <a:avLst>
              <a:gd name="adj" fmla="val 33600"/>
            </a:avLst>
          </a:prstGeom>
          <a:solidFill>
            <a:srgbClr val="7E023C"/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8693" y="5094923"/>
            <a:ext cx="3038951" cy="308610"/>
          </a:xfrm>
          <a:prstGeom prst="roundRect">
            <a:avLst>
              <a:gd name="adj" fmla="val 33600"/>
            </a:avLst>
          </a:prstGeom>
          <a:solidFill>
            <a:srgbClr val="F20374"/>
          </a:solidFill>
          <a:ln/>
        </p:spPr>
      </p:sp>
      <p:sp>
        <p:nvSpPr>
          <p:cNvPr id="20" name="Text 18"/>
          <p:cNvSpPr/>
          <p:nvPr/>
        </p:nvSpPr>
        <p:spPr>
          <a:xfrm>
            <a:off x="4352806" y="5094923"/>
            <a:ext cx="64103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95%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8693" y="5712023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Hat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68693" y="6223278"/>
            <a:ext cx="402514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Consistent quality: 3.80/5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302448" y="5094923"/>
            <a:ext cx="3189327" cy="308610"/>
          </a:xfrm>
          <a:prstGeom prst="roundRect">
            <a:avLst>
              <a:gd name="adj" fmla="val 33600"/>
            </a:avLst>
          </a:prstGeom>
          <a:solidFill>
            <a:srgbClr val="7E023C"/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2448" y="5094923"/>
            <a:ext cx="2997875" cy="308610"/>
          </a:xfrm>
          <a:prstGeom prst="roundRect">
            <a:avLst>
              <a:gd name="adj" fmla="val 33600"/>
            </a:avLst>
          </a:prstGeom>
          <a:solidFill>
            <a:srgbClr val="F20374"/>
          </a:solidFill>
          <a:ln/>
        </p:spPr>
      </p:sp>
      <p:sp>
        <p:nvSpPr>
          <p:cNvPr id="25" name="Text 23"/>
          <p:cNvSpPr/>
          <p:nvPr/>
        </p:nvSpPr>
        <p:spPr>
          <a:xfrm>
            <a:off x="8676918" y="5094923"/>
            <a:ext cx="65079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94%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02448" y="5712023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Skirt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5302448" y="6223278"/>
            <a:ext cx="402526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Popular choice: 3.78/5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709613"/>
            <a:ext cx="8830628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Customer Segmentation Insights</a:t>
            </a:r>
            <a:endParaRPr lang="en-US" sz="4550" dirty="0"/>
          </a:p>
        </p:txBody>
      </p:sp>
      <p:sp>
        <p:nvSpPr>
          <p:cNvPr id="3" name="Shape 1"/>
          <p:cNvSpPr/>
          <p:nvPr/>
        </p:nvSpPr>
        <p:spPr>
          <a:xfrm>
            <a:off x="968693" y="1929408"/>
            <a:ext cx="12692896" cy="887254"/>
          </a:xfrm>
          <a:prstGeom prst="roundRect">
            <a:avLst>
              <a:gd name="adj" fmla="val 11687"/>
            </a:avLst>
          </a:prstGeom>
          <a:solidFill>
            <a:srgbClr val="7E023C"/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3933" y="1944648"/>
            <a:ext cx="4220766" cy="856774"/>
          </a:xfrm>
          <a:prstGeom prst="roundRect">
            <a:avLst>
              <a:gd name="adj" fmla="val 12103"/>
            </a:avLst>
          </a:prstGeom>
          <a:solidFill>
            <a:srgbClr val="7E023C"/>
          </a:solidFill>
          <a:ln/>
        </p:spPr>
      </p:sp>
      <p:sp>
        <p:nvSpPr>
          <p:cNvPr id="5" name="Text 3"/>
          <p:cNvSpPr/>
          <p:nvPr/>
        </p:nvSpPr>
        <p:spPr>
          <a:xfrm>
            <a:off x="1230749" y="2191464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New (83)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5204698" y="1944648"/>
            <a:ext cx="4220766" cy="856774"/>
          </a:xfrm>
          <a:prstGeom prst="rect">
            <a:avLst/>
          </a:prstGeom>
          <a:solidFill>
            <a:srgbClr val="7E023C"/>
          </a:solidFill>
          <a:ln/>
        </p:spPr>
      </p:sp>
      <p:sp>
        <p:nvSpPr>
          <p:cNvPr id="7" name="Shape 5"/>
          <p:cNvSpPr/>
          <p:nvPr/>
        </p:nvSpPr>
        <p:spPr>
          <a:xfrm>
            <a:off x="5204698" y="1944648"/>
            <a:ext cx="30480" cy="856774"/>
          </a:xfrm>
          <a:prstGeom prst="roundRect">
            <a:avLst>
              <a:gd name="adj" fmla="val 340200"/>
            </a:avLst>
          </a:prstGeom>
          <a:solidFill>
            <a:srgbClr val="971B55"/>
          </a:solidFill>
          <a:ln/>
        </p:spPr>
      </p:sp>
      <p:sp>
        <p:nvSpPr>
          <p:cNvPr id="8" name="Text 6"/>
          <p:cNvSpPr/>
          <p:nvPr/>
        </p:nvSpPr>
        <p:spPr>
          <a:xfrm>
            <a:off x="5451515" y="2191464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Returning (701)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425464" y="1944648"/>
            <a:ext cx="4220766" cy="856774"/>
          </a:xfrm>
          <a:prstGeom prst="rect">
            <a:avLst/>
          </a:prstGeom>
          <a:solidFill>
            <a:srgbClr val="7E023C"/>
          </a:solidFill>
          <a:ln/>
        </p:spPr>
      </p:sp>
      <p:sp>
        <p:nvSpPr>
          <p:cNvPr id="10" name="Shape 8"/>
          <p:cNvSpPr/>
          <p:nvPr/>
        </p:nvSpPr>
        <p:spPr>
          <a:xfrm>
            <a:off x="9425464" y="1944648"/>
            <a:ext cx="30480" cy="856774"/>
          </a:xfrm>
          <a:prstGeom prst="roundRect">
            <a:avLst>
              <a:gd name="adj" fmla="val 340200"/>
            </a:avLst>
          </a:prstGeom>
          <a:solidFill>
            <a:srgbClr val="971B55"/>
          </a:solidFill>
          <a:ln/>
        </p:spPr>
      </p:sp>
      <p:sp>
        <p:nvSpPr>
          <p:cNvPr id="11" name="Text 9"/>
          <p:cNvSpPr/>
          <p:nvPr/>
        </p:nvSpPr>
        <p:spPr>
          <a:xfrm>
            <a:off x="9672280" y="2191464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Loyal (3,116)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68693" y="3341132"/>
            <a:ext cx="3485436" cy="435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Subscription Status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68693" y="4023479"/>
            <a:ext cx="604527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1,053</a:t>
            </a: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subscribers averaging $59.49 spend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68693" y="4504849"/>
            <a:ext cx="604527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2,847</a:t>
            </a: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non-subscribers averaging $59.87 spend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68693" y="4986218"/>
            <a:ext cx="604527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Subscription opportunity: </a:t>
            </a:r>
            <a:r>
              <a:rPr lang="en-US" sz="190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958</a:t>
            </a: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repeat buyers (&gt;5 purchases) not yet subscribed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623810" y="6902648"/>
            <a:ext cx="604527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653177"/>
            <a:ext cx="5768935" cy="683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Category Performance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968693" y="1800701"/>
            <a:ext cx="6230303" cy="2771775"/>
          </a:xfrm>
          <a:prstGeom prst="roundRect">
            <a:avLst>
              <a:gd name="adj" fmla="val 3519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8484" y="2040493"/>
            <a:ext cx="696754" cy="696754"/>
          </a:xfrm>
          <a:prstGeom prst="roundRect">
            <a:avLst>
              <a:gd name="adj" fmla="val 13122401"/>
            </a:avLst>
          </a:prstGeom>
          <a:solidFill>
            <a:srgbClr val="F2037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0056" y="2232065"/>
            <a:ext cx="313492" cy="3134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8484" y="2969419"/>
            <a:ext cx="2732484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Clothing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208484" y="3450193"/>
            <a:ext cx="5750719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Top sellers:</a:t>
            </a: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Blouse, Pants, Shirt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08484" y="3961090"/>
            <a:ext cx="5750719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Largest category with 1,737 purchases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431167" y="1800701"/>
            <a:ext cx="6230422" cy="2771775"/>
          </a:xfrm>
          <a:prstGeom prst="roundRect">
            <a:avLst>
              <a:gd name="adj" fmla="val 3519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70959" y="2040493"/>
            <a:ext cx="696754" cy="696754"/>
          </a:xfrm>
          <a:prstGeom prst="roundRect">
            <a:avLst>
              <a:gd name="adj" fmla="val 13122401"/>
            </a:avLst>
          </a:prstGeom>
          <a:solidFill>
            <a:srgbClr val="F2037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2530" y="2232065"/>
            <a:ext cx="313492" cy="313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70959" y="2969419"/>
            <a:ext cx="2732484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Footwear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7670959" y="3450193"/>
            <a:ext cx="5750838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Top sellers:</a:t>
            </a: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Sandals, Shoes, Sneakers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70959" y="3961090"/>
            <a:ext cx="5750838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Strong ratings across all items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968693" y="4804648"/>
            <a:ext cx="6230303" cy="2771775"/>
          </a:xfrm>
          <a:prstGeom prst="roundRect">
            <a:avLst>
              <a:gd name="adj" fmla="val 3519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08484" y="5044440"/>
            <a:ext cx="696754" cy="696754"/>
          </a:xfrm>
          <a:prstGeom prst="roundRect">
            <a:avLst>
              <a:gd name="adj" fmla="val 13122401"/>
            </a:avLst>
          </a:prstGeom>
          <a:solidFill>
            <a:srgbClr val="F2037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0056" y="5236012"/>
            <a:ext cx="313492" cy="3134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8484" y="5973366"/>
            <a:ext cx="2732484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Accessories</a:t>
            </a:r>
            <a:endParaRPr lang="en-US" sz="2150" dirty="0"/>
          </a:p>
        </p:txBody>
      </p:sp>
      <p:sp>
        <p:nvSpPr>
          <p:cNvPr id="19" name="Text 14"/>
          <p:cNvSpPr/>
          <p:nvPr/>
        </p:nvSpPr>
        <p:spPr>
          <a:xfrm>
            <a:off x="1208484" y="6454140"/>
            <a:ext cx="5750719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Top sellers:</a:t>
            </a: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Jewelry, Sunglasses, Belt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208484" y="6965037"/>
            <a:ext cx="5750719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High-margin opportunity category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7431167" y="4804648"/>
            <a:ext cx="6230422" cy="2771775"/>
          </a:xfrm>
          <a:prstGeom prst="roundRect">
            <a:avLst>
              <a:gd name="adj" fmla="val 3519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670959" y="5044440"/>
            <a:ext cx="696754" cy="696754"/>
          </a:xfrm>
          <a:prstGeom prst="roundRect">
            <a:avLst>
              <a:gd name="adj" fmla="val 13122401"/>
            </a:avLst>
          </a:prstGeom>
          <a:solidFill>
            <a:srgbClr val="F20374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62530" y="5236012"/>
            <a:ext cx="313492" cy="3134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70959" y="5973366"/>
            <a:ext cx="2732484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Outerwear</a:t>
            </a:r>
            <a:endParaRPr lang="en-US" sz="2150" dirty="0"/>
          </a:p>
        </p:txBody>
      </p:sp>
      <p:sp>
        <p:nvSpPr>
          <p:cNvPr id="25" name="Text 19"/>
          <p:cNvSpPr/>
          <p:nvPr/>
        </p:nvSpPr>
        <p:spPr>
          <a:xfrm>
            <a:off x="7670959" y="6454140"/>
            <a:ext cx="5750838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Top sellers:</a:t>
            </a: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Jacket, Coat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670959" y="6965037"/>
            <a:ext cx="5750838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Seasonal demand patterns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662226"/>
            <a:ext cx="5948839" cy="706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Revenue by Age Group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r="6186"/>
          <a:stretch>
            <a:fillRect/>
          </a:stretch>
        </p:blipFill>
        <p:spPr>
          <a:xfrm>
            <a:off x="968694" y="1849993"/>
            <a:ext cx="10084494" cy="36442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8693" y="5980986"/>
            <a:ext cx="6053137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Young Adults</a:t>
            </a: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lead revenue generation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68693" y="6581894"/>
            <a:ext cx="6053137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Balanced distribution across all age segments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615952" y="5980986"/>
            <a:ext cx="6053137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Express shipping users</a:t>
            </a: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spend $60.48 average vs. $58.46 standard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615952" y="6966466"/>
            <a:ext cx="6053137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Premium service correlates with higher spend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1130498"/>
            <a:ext cx="7657386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Strategic Recommendations</a:t>
            </a:r>
            <a:endParaRPr lang="en-US" sz="4550" dirty="0"/>
          </a:p>
        </p:txBody>
      </p:sp>
      <p:sp>
        <p:nvSpPr>
          <p:cNvPr id="3" name="Shape 1"/>
          <p:cNvSpPr/>
          <p:nvPr/>
        </p:nvSpPr>
        <p:spPr>
          <a:xfrm>
            <a:off x="968693" y="2350294"/>
            <a:ext cx="4066342" cy="2250996"/>
          </a:xfrm>
          <a:prstGeom prst="roundRect">
            <a:avLst>
              <a:gd name="adj" fmla="val 6500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8213" y="2350294"/>
            <a:ext cx="121920" cy="2250996"/>
          </a:xfrm>
          <a:prstGeom prst="roundRect">
            <a:avLst>
              <a:gd name="adj" fmla="val 85050"/>
            </a:avLst>
          </a:prstGeom>
          <a:solidFill>
            <a:srgbClr val="F20374"/>
          </a:solidFill>
          <a:ln/>
        </p:spPr>
      </p:sp>
      <p:sp>
        <p:nvSpPr>
          <p:cNvPr id="5" name="Text 3"/>
          <p:cNvSpPr/>
          <p:nvPr/>
        </p:nvSpPr>
        <p:spPr>
          <a:xfrm>
            <a:off x="1337429" y="2627590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Boost Subscriptions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37429" y="3138845"/>
            <a:ext cx="342030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Target 958 repeat buyers with exclusive benefits—untapped revenue potential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81851" y="2350294"/>
            <a:ext cx="4066461" cy="2250996"/>
          </a:xfrm>
          <a:prstGeom prst="roundRect">
            <a:avLst>
              <a:gd name="adj" fmla="val 6500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51371" y="2350294"/>
            <a:ext cx="121920" cy="2250996"/>
          </a:xfrm>
          <a:prstGeom prst="roundRect">
            <a:avLst>
              <a:gd name="adj" fmla="val 85050"/>
            </a:avLst>
          </a:prstGeom>
          <a:solidFill>
            <a:srgbClr val="F20374"/>
          </a:solidFill>
          <a:ln/>
        </p:spPr>
      </p:sp>
      <p:sp>
        <p:nvSpPr>
          <p:cNvPr id="9" name="Text 7"/>
          <p:cNvSpPr/>
          <p:nvPr/>
        </p:nvSpPr>
        <p:spPr>
          <a:xfrm>
            <a:off x="5650587" y="2627590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Loyalty Programs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650587" y="3138845"/>
            <a:ext cx="342042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Move 701 returning customers into loyal segment through rewards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595128" y="2350294"/>
            <a:ext cx="4066461" cy="2250996"/>
          </a:xfrm>
          <a:prstGeom prst="roundRect">
            <a:avLst>
              <a:gd name="adj" fmla="val 6500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48" y="2350294"/>
            <a:ext cx="121920" cy="2250996"/>
          </a:xfrm>
          <a:prstGeom prst="roundRect">
            <a:avLst>
              <a:gd name="adj" fmla="val 85050"/>
            </a:avLst>
          </a:prstGeom>
          <a:solidFill>
            <a:srgbClr val="F20374"/>
          </a:solidFill>
          <a:ln/>
        </p:spPr>
      </p:sp>
      <p:sp>
        <p:nvSpPr>
          <p:cNvPr id="13" name="Text 11"/>
          <p:cNvSpPr/>
          <p:nvPr/>
        </p:nvSpPr>
        <p:spPr>
          <a:xfrm>
            <a:off x="9963864" y="2627590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Optimize Discounts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963864" y="3138845"/>
            <a:ext cx="342042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839 high-spenders use discounts—balance promotions with margin control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8693" y="4848106"/>
            <a:ext cx="4066342" cy="2250996"/>
          </a:xfrm>
          <a:prstGeom prst="roundRect">
            <a:avLst>
              <a:gd name="adj" fmla="val 6500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8213" y="4848106"/>
            <a:ext cx="121920" cy="2250996"/>
          </a:xfrm>
          <a:prstGeom prst="roundRect">
            <a:avLst>
              <a:gd name="adj" fmla="val 85050"/>
            </a:avLst>
          </a:prstGeom>
          <a:solidFill>
            <a:srgbClr val="F20374"/>
          </a:solidFill>
          <a:ln/>
        </p:spPr>
      </p:sp>
      <p:sp>
        <p:nvSpPr>
          <p:cNvPr id="17" name="Text 15"/>
          <p:cNvSpPr/>
          <p:nvPr/>
        </p:nvSpPr>
        <p:spPr>
          <a:xfrm>
            <a:off x="1337429" y="5125403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Product Positioning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37429" y="5636657"/>
            <a:ext cx="342030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Highlight top-rated items (Gloves, Sandals, Boots) in marketing campaigns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281851" y="4848106"/>
            <a:ext cx="4066461" cy="2250996"/>
          </a:xfrm>
          <a:prstGeom prst="roundRect">
            <a:avLst>
              <a:gd name="adj" fmla="val 6500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1371" y="4848106"/>
            <a:ext cx="121920" cy="2250996"/>
          </a:xfrm>
          <a:prstGeom prst="roundRect">
            <a:avLst>
              <a:gd name="adj" fmla="val 85050"/>
            </a:avLst>
          </a:prstGeom>
          <a:solidFill>
            <a:srgbClr val="F20374"/>
          </a:solidFill>
          <a:ln/>
        </p:spPr>
      </p:sp>
      <p:sp>
        <p:nvSpPr>
          <p:cNvPr id="21" name="Text 19"/>
          <p:cNvSpPr/>
          <p:nvPr/>
        </p:nvSpPr>
        <p:spPr>
          <a:xfrm>
            <a:off x="5650587" y="5125403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Targeted Marketing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5650587" y="5636657"/>
            <a:ext cx="342042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Focus on Young Adults and express shipping users for maximum ROI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423</Words>
  <Application>Microsoft Office PowerPoint</Application>
  <PresentationFormat>Custom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Overpass Light</vt:lpstr>
      <vt:lpstr>Arial</vt:lpstr>
      <vt:lpstr>Overpass</vt:lpstr>
      <vt:lpstr>Overpass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vineet dadheech</cp:lastModifiedBy>
  <cp:revision>2</cp:revision>
  <dcterms:created xsi:type="dcterms:W3CDTF">2025-11-15T11:26:57Z</dcterms:created>
  <dcterms:modified xsi:type="dcterms:W3CDTF">2025-11-15T11:32:25Z</dcterms:modified>
</cp:coreProperties>
</file>